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E63FD6F-C233-407E-838F-266A6052222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4A1AB1-CBA2-4DB1-AC26-4CBDBE9B9D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72B71D-0A81-457A-8712-20B9E906A9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B4A888-7958-42DB-BFA7-45A254639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C4B150-7B47-4D29-9CBE-F5A14890C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DA144C-38CD-4B05-802A-6A48BEEA8E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1441FD-7A6F-4A12-9BE4-D60BDAE396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FC4437-11CD-4946-8941-12C63ECF54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E906BC-605E-4241-8EC0-29A61CD66D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3A80CB-569F-4568-8536-5EC4BD2990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4E346-8CAD-4169-8B0D-CD6795BB3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E605F1-E31B-4C4B-99B9-AAD0B8F36B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B8DB14-7A5F-46AA-85A6-5316B486C9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A86EE-9C90-4D10-855B-3CF953B99C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59D185-97FF-4254-91DA-2D25D7878A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C0437-2157-4ED3-A188-D2872EC528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201240" y="0"/>
            <a:ext cx="72720" cy="5143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40080" y="502920"/>
            <a:ext cx="639720" cy="639720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5029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417320" y="5486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NEXUS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3337560" y="941760"/>
            <a:ext cx="200880" cy="63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0080" y="1463040"/>
            <a:ext cx="2651400" cy="273960"/>
          </a:xfrm>
          <a:prstGeom prst="roundRect">
            <a:avLst>
              <a:gd name="adj" fmla="val 13333"/>
            </a:avLst>
          </a:prstGeom>
          <a:solidFill>
            <a:srgbClr val="1A1A1D"/>
          </a:solidFill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77240" y="1563480"/>
            <a:ext cx="82080" cy="820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14400" y="146304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SISTEMA_ACTIVO_V2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40080" y="210312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Aquí no se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40080" y="2880360"/>
            <a:ext cx="8229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enseña. </a:t>
            </a:r>
            <a:r>
              <a:rPr lang="en-US" sz="52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Se ejecuta.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40080" y="3886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sistema operativo que el estudiante moderno necesita.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40080" y="4526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Juan Cruz · Founder  ·  Reunión de equipo · 18 abr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LA FRICCIÓN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365760" y="6400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Los portales de apuntes son cementerios de PDFs.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365760" y="12070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El problema no es la falta de información — es la fricción para usarla.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457200" y="18561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4"/>
          <p:cNvSpPr/>
          <p:nvPr/>
        </p:nvSpPr>
        <p:spPr>
          <a:xfrm>
            <a:off x="914400" y="17830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PDFs de 500 páginas sin navegación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914400" y="205740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El alumno lee de corrido o saltea al azar.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457200" y="2514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6"/>
          <p:cNvSpPr/>
          <p:nvPr/>
        </p:nvSpPr>
        <p:spPr>
          <a:xfrm>
            <a:off x="914400" y="244152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Apuntes dispersos entre materias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914400" y="271584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Nada conecta un concepto con el siguiente.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457200" y="31730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8"/>
          <p:cNvSpPr/>
          <p:nvPr/>
        </p:nvSpPr>
        <p:spPr>
          <a:xfrm>
            <a:off x="914400" y="309996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Sin feedback hasta el examen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914400" y="337428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Se da cuenta de lo que no sabía cuando ya es tarde.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3" descr="preencoded.png"/>
          <p:cNvPicPr/>
          <p:nvPr/>
        </p:nvPicPr>
        <p:blipFill>
          <a:blip r:embed="rId4"/>
          <a:stretch/>
        </p:blipFill>
        <p:spPr>
          <a:xfrm>
            <a:off x="457200" y="38314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0"/>
          <p:cNvSpPr/>
          <p:nvPr/>
        </p:nvSpPr>
        <p:spPr>
          <a:xfrm>
            <a:off x="914400" y="375804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Busca durante horas qué es importante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914400" y="4032360"/>
            <a:ext cx="438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El 70% del tiempo se pierde decidiendo qué estudiar.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5760720" y="1737360"/>
            <a:ext cx="3017160" cy="274284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5760720" y="1737360"/>
            <a:ext cx="72720" cy="2742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5852160" y="1920240"/>
            <a:ext cx="2834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70%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5943600" y="32004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del tiempo de estudio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5943600" y="35204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se pierde decidiendo qué estudiar, no estudiando.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7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02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LA PREGUNTA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65760" y="109728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¿Y si el material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65760" y="187452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se adaptara a </a:t>
            </a:r>
            <a:r>
              <a:rPr lang="en-US" sz="48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vos</a:t>
            </a:r>
            <a:r>
              <a:rPr lang="en-US" sz="48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?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365760" y="28803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Tres cosas que hoy no existen en ninguna plataforma educativa argentina.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594360" y="35661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731520" y="36576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Priorizar lo que no sabés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731520" y="41148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lo que ya dominás.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3337560" y="35661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3474720" y="36576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Explicar a tu nivel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3474720" y="41148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al nivel del manual.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6080760" y="3566160"/>
            <a:ext cx="246852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6217920" y="36576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Responder ahora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6217920" y="411480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la próxima clase.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03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QUÉ ES NEXUS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365760" y="685800"/>
            <a:ext cx="8412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Un sistema operativo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365760" y="13716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para cada alumno. </a:t>
            </a:r>
            <a:r>
              <a:rPr lang="en-US" sz="30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A escala.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365760" y="23317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NEXUS no es un portal de apuntes.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365760" y="2788920"/>
            <a:ext cx="51202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Es un sistema que entiende dónde estás débil, que conoce el programa exacto de tu carrera, y que te explica cada concepto con el tono y la profundidad que vos necesitás — no el del manual genérico.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5760720" y="2377440"/>
            <a:ext cx="3017160" cy="548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5897880" y="2496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7"/>
          <p:cNvSpPr/>
          <p:nvPr/>
        </p:nvSpPr>
        <p:spPr>
          <a:xfrm>
            <a:off x="6355080" y="237744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Aprende de vos mientras lo usás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5760720" y="3063240"/>
            <a:ext cx="3017160" cy="548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5897880" y="31820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9"/>
          <p:cNvSpPr/>
          <p:nvPr/>
        </p:nvSpPr>
        <p:spPr>
          <a:xfrm>
            <a:off x="6355080" y="306324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Respuestas con origen verificable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5760720" y="3749040"/>
            <a:ext cx="3017160" cy="548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2" descr="preencoded.png"/>
          <p:cNvPicPr/>
          <p:nvPr/>
        </p:nvPicPr>
        <p:blipFill>
          <a:blip r:embed="rId3"/>
          <a:stretch/>
        </p:blipFill>
        <p:spPr>
          <a:xfrm>
            <a:off x="5897880" y="38678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1"/>
          <p:cNvSpPr/>
          <p:nvPr/>
        </p:nvSpPr>
        <p:spPr>
          <a:xfrm>
            <a:off x="6355080" y="374904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Latencia humana (y a veces mejor)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04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NEXUS_OS · ARQUITECTURA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365760" y="6858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Construido como un 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365760" y="123444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i="1" u="none" strike="noStrike">
                <a:solidFill>
                  <a:srgbClr val="A855F7"/>
                </a:solidFill>
                <a:effectLst/>
                <a:uFillTx/>
                <a:latin typeface="Segoe UI"/>
                <a:ea typeface="Segoe UI"/>
              </a:rPr>
              <a:t>sistema de armas </a:t>
            </a: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modular.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365760" y="192024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Un mismo fuselaje puede llevar cargas distintas según la misión. Cambia el payload, no la plataforma.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3931920" y="2377440"/>
            <a:ext cx="1279800" cy="639720"/>
          </a:xfrm>
          <a:prstGeom prst="roundRect">
            <a:avLst>
              <a:gd name="adj" fmla="val 14286"/>
            </a:avLst>
          </a:prstGeom>
          <a:solidFill>
            <a:srgbClr val="1A1A1D"/>
          </a:solidFill>
          <a:ln w="254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3931920" y="24505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&gt;_ </a:t>
            </a: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CORE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3931920" y="274320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orquesta · adapta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 flipH="1">
            <a:off x="1499400" y="3017520"/>
            <a:ext cx="3072600" cy="365760"/>
          </a:xfrm>
          <a:prstGeom prst="line">
            <a:avLst/>
          </a:prstGeom>
          <a:ln w="9525">
            <a:solidFill>
              <a:srgbClr val="2A2A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 flipH="1">
            <a:off x="3547800" y="3017520"/>
            <a:ext cx="1024200" cy="365760"/>
          </a:xfrm>
          <a:prstGeom prst="line">
            <a:avLst/>
          </a:prstGeom>
          <a:ln w="9525">
            <a:solidFill>
              <a:srgbClr val="2A2A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4572000" y="3017520"/>
            <a:ext cx="1023840" cy="365760"/>
          </a:xfrm>
          <a:prstGeom prst="line">
            <a:avLst/>
          </a:prstGeom>
          <a:ln w="9525">
            <a:solidFill>
              <a:srgbClr val="2A2A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4572000" y="3017520"/>
            <a:ext cx="3072240" cy="365760"/>
          </a:xfrm>
          <a:prstGeom prst="line">
            <a:avLst/>
          </a:prstGeom>
          <a:ln w="9525">
            <a:solidFill>
              <a:srgbClr val="2A2A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539640" y="3383280"/>
            <a:ext cx="191988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539640" y="3383280"/>
            <a:ext cx="72720" cy="1051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722520" y="3520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MÓDULO_01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722520" y="37490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Contabilidad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722520" y="41331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3B82F6"/>
                </a:solidFill>
                <a:effectLst/>
                <a:uFillTx/>
                <a:latin typeface="Consolas"/>
                <a:ea typeface="Consolas"/>
              </a:rPr>
              <a:t>· hot-swap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2587680" y="3383280"/>
            <a:ext cx="191988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2587680" y="3383280"/>
            <a:ext cx="72720" cy="1051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2770560" y="3520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MÓDULO_02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2770560" y="37490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Administración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2770560" y="41331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38BDF8"/>
                </a:solidFill>
                <a:effectLst/>
                <a:uFillTx/>
                <a:latin typeface="Consolas"/>
                <a:ea typeface="Consolas"/>
              </a:rPr>
              <a:t>· hot-swap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2"/>
          <p:cNvSpPr/>
          <p:nvPr/>
        </p:nvSpPr>
        <p:spPr>
          <a:xfrm>
            <a:off x="4636080" y="3383280"/>
            <a:ext cx="191988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4636080" y="3383280"/>
            <a:ext cx="72720" cy="1051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4818960" y="3520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MÓDULO_03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4818960" y="37490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Sociales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4818960" y="41331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· hot-swap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6684120" y="3383280"/>
            <a:ext cx="1919880" cy="1051200"/>
          </a:xfrm>
          <a:prstGeom prst="roundRect">
            <a:avLst>
              <a:gd name="adj" fmla="val 6957"/>
            </a:avLst>
          </a:prstGeom>
          <a:solidFill>
            <a:srgbClr val="111113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8"/>
          <p:cNvSpPr/>
          <p:nvPr/>
        </p:nvSpPr>
        <p:spPr>
          <a:xfrm>
            <a:off x="6684120" y="3383280"/>
            <a:ext cx="72720" cy="1051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6867000" y="35204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99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MÓDULO_04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0"/>
          <p:cNvSpPr/>
          <p:nvPr/>
        </p:nvSpPr>
        <p:spPr>
          <a:xfrm>
            <a:off x="6867000" y="37490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Propedéutica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1"/>
          <p:cNvSpPr/>
          <p:nvPr/>
        </p:nvSpPr>
        <p:spPr>
          <a:xfrm>
            <a:off x="6867000" y="413316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· hot-swap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2"/>
          <p:cNvSpPr/>
          <p:nvPr/>
        </p:nvSpPr>
        <p:spPr>
          <a:xfrm>
            <a:off x="365760" y="45720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Sumar módulos </a:t>
            </a:r>
            <a:r>
              <a:rPr lang="en-US" sz="1300" b="0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no requiere reconstruir el sistema. </a:t>
            </a:r>
            <a:r>
              <a:rPr lang="en-US" sz="13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Adaptable a múltiples entornos.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3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5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05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MOTOR TÁCTICO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365760" y="64008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Tres cosas que hacen que NEXUS no se rompa.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365760" y="10972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Y que ninguna plataforma educativa argentina hoy combina las tres.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411480" y="1783080"/>
            <a:ext cx="2651400" cy="2834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411480" y="1783080"/>
            <a:ext cx="2651400" cy="72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2423160" y="1965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640080" y="2103120"/>
            <a:ext cx="731160" cy="73116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822960" y="2286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8"/>
          <p:cNvSpPr/>
          <p:nvPr/>
        </p:nvSpPr>
        <p:spPr>
          <a:xfrm>
            <a:off x="640080" y="29718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ADAPTATIVO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640080" y="3474720"/>
            <a:ext cx="2194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Entiende qué dominás y qué no. Te lleva a lo que te falta, no a lo que ya sabés.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0"/>
          <p:cNvSpPr/>
          <p:nvPr/>
        </p:nvSpPr>
        <p:spPr>
          <a:xfrm>
            <a:off x="3246120" y="1783080"/>
            <a:ext cx="2651400" cy="2834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"/>
          <p:cNvSpPr/>
          <p:nvPr/>
        </p:nvSpPr>
        <p:spPr>
          <a:xfrm>
            <a:off x="3246120" y="1783080"/>
            <a:ext cx="2651400" cy="72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5257800" y="1965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3474720" y="2103120"/>
            <a:ext cx="731160" cy="73116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2"/>
          <a:stretch/>
        </p:blipFill>
        <p:spPr>
          <a:xfrm>
            <a:off x="3657600" y="2286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4"/>
          <p:cNvSpPr/>
          <p:nvPr/>
        </p:nvSpPr>
        <p:spPr>
          <a:xfrm>
            <a:off x="3474720" y="29718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VERIFICADO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3474720" y="3474720"/>
            <a:ext cx="2194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Cada respuesta sale del material oficial del curso. Sin inventar. Sin improvisar.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6080760" y="1783080"/>
            <a:ext cx="2651400" cy="28342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6080760" y="1783080"/>
            <a:ext cx="2651400" cy="72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8092440" y="1965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6309360" y="2103120"/>
            <a:ext cx="731160" cy="731160"/>
          </a:xfrm>
          <a:prstGeom prst="ellipse">
            <a:avLst/>
          </a:prstGeom>
          <a:solidFill>
            <a:srgbClr val="1A1A1D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2" descr="preencoded.png"/>
          <p:cNvPicPr/>
          <p:nvPr/>
        </p:nvPicPr>
        <p:blipFill>
          <a:blip r:embed="rId3"/>
          <a:stretch/>
        </p:blipFill>
        <p:spPr>
          <a:xfrm>
            <a:off x="6492240" y="22860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0"/>
          <p:cNvSpPr/>
          <p:nvPr/>
        </p:nvSpPr>
        <p:spPr>
          <a:xfrm>
            <a:off x="6309360" y="297180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INSTANTÁNEO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1"/>
          <p:cNvSpPr/>
          <p:nvPr/>
        </p:nvSpPr>
        <p:spPr>
          <a:xfrm>
            <a:off x="6309360" y="3474720"/>
            <a:ext cx="2194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Responde antes que termines de leer la pregunta. Estudiar pierde la fricción.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2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4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06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LA EXPERIENCIA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Así se siente estudiar con NEXUS.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365760" y="1417320"/>
            <a:ext cx="4754520" cy="3200040"/>
          </a:xfrm>
          <a:prstGeom prst="roundRect">
            <a:avLst>
              <a:gd name="adj" fmla="val 2857"/>
            </a:avLst>
          </a:prstGeom>
          <a:solidFill>
            <a:srgbClr val="111113"/>
          </a:solidFill>
          <a:ln w="1905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365760" y="1417320"/>
            <a:ext cx="4754520" cy="319680"/>
          </a:xfrm>
          <a:prstGeom prst="rect">
            <a:avLst/>
          </a:prstGeom>
          <a:solidFill>
            <a:srgbClr val="1A1A1D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502920" y="1517760"/>
            <a:ext cx="118440" cy="118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667440" y="1517760"/>
            <a:ext cx="118440" cy="118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31960" y="1517760"/>
            <a:ext cx="118440" cy="118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1188720" y="1426320"/>
            <a:ext cx="38401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portal-fce.app  ·  ciclo inicial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548640" y="192024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¿Qué dice Bourdieu sobre el Estado?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548640" y="2331720"/>
            <a:ext cx="4388760" cy="1737000"/>
          </a:xfrm>
          <a:prstGeom prst="roundRect">
            <a:avLst>
              <a:gd name="adj" fmla="val 3158"/>
            </a:avLst>
          </a:prstGeom>
          <a:solidFill>
            <a:srgbClr val="1A1A1D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731520" y="2468880"/>
            <a:ext cx="4023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✓ Respuesta verificada · 87 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 </a:t>
            </a: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El Estado detenta el monopolio de la violencia física </a:t>
            </a:r>
            <a:r>
              <a:rPr lang="en-US" sz="11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y simbólica legítima</a:t>
            </a:r>
            <a:r>
              <a:rPr lang="en-US" sz="1100" b="0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 sobre un territorio. Bourdieu rectifica a Weber incorporando la dimensión simbólica…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548640" y="416052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Clase 18-1-1990 · pág. 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5394960" y="15544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3"/>
          <p:cNvSpPr/>
          <p:nvPr/>
        </p:nvSpPr>
        <p:spPr>
          <a:xfrm>
            <a:off x="5852160" y="15087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Instalable como app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5852160" y="17830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En el celular, offline, sin tiendas.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5394960" y="23043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5"/>
          <p:cNvSpPr/>
          <p:nvPr/>
        </p:nvSpPr>
        <p:spPr>
          <a:xfrm>
            <a:off x="5852160" y="22586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Responde con citas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5852160" y="25329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Siempre sabés de dónde sale la respuesta.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2" descr="preencoded.png"/>
          <p:cNvPicPr/>
          <p:nvPr/>
        </p:nvPicPr>
        <p:blipFill>
          <a:blip r:embed="rId3"/>
          <a:stretch/>
        </p:blipFill>
        <p:spPr>
          <a:xfrm>
            <a:off x="5394960" y="30542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17"/>
          <p:cNvSpPr/>
          <p:nvPr/>
        </p:nvSpPr>
        <p:spPr>
          <a:xfrm>
            <a:off x="5852160" y="300852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Aprende tu estilo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5852160" y="32828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Cuanto más la usás, mejor responde.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3" descr="preencoded.png"/>
          <p:cNvPicPr/>
          <p:nvPr/>
        </p:nvPicPr>
        <p:blipFill>
          <a:blip r:embed="rId4"/>
          <a:stretch/>
        </p:blipFill>
        <p:spPr>
          <a:xfrm>
            <a:off x="5394960" y="38037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9"/>
          <p:cNvSpPr/>
          <p:nvPr/>
        </p:nvSpPr>
        <p:spPr>
          <a:xfrm>
            <a:off x="5852160" y="37580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Mide tu progreso real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5852160" y="40323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puntos — comprensión.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07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VALIDACIÓN REAL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El usuario #1 del mundo.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365760" y="11887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Y por qué ese dato vale más que mil encuestas.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365760" y="1783080"/>
            <a:ext cx="8412120" cy="26514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365760" y="1783080"/>
            <a:ext cx="72720" cy="2651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640080" y="1691640"/>
            <a:ext cx="914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A855F7"/>
                </a:solidFill>
                <a:effectLst/>
                <a:uFillTx/>
                <a:latin typeface="Segoe UI"/>
                <a:ea typeface="Segoe UI"/>
              </a:rPr>
              <a:t>“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463040" y="2011680"/>
            <a:ext cx="7040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Estudia solo con NEXUS. A los 60 años, está aprendiendo Sociología, Contabilidad y Administración con una herramienta que hace cuatro meses no existía.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1463040" y="3154680"/>
            <a:ext cx="7040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855F7"/>
                </a:solidFill>
                <a:effectLst/>
                <a:uFillTx/>
                <a:latin typeface="Segoe UI"/>
                <a:ea typeface="Segoe UI"/>
              </a:rPr>
              <a:t>— Néstor, auditor de contenido · sujeto de estudio real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463040" y="3566160"/>
            <a:ext cx="7040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Si NEXUS funciona para alguien que nunca tuvo una app educativa, funciona para cualquiera que entra a primer año.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1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08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SOVEREIGN PROTOCOL · ORIGEN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365760" y="68580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Cómo el sistema aprendió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365760" y="128016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 </a:t>
            </a:r>
            <a:r>
              <a:rPr lang="en-US" sz="32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mejorarse solo</a:t>
            </a: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365760" y="1920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4 días · de detectar el problema a producción.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658080" y="2743200"/>
            <a:ext cx="7827480" cy="360"/>
          </a:xfrm>
          <a:prstGeom prst="line">
            <a:avLst/>
          </a:prstGeom>
          <a:ln w="12700">
            <a:solidFill>
              <a:srgbClr val="2A2A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384120" y="2423160"/>
            <a:ext cx="2011320" cy="2148480"/>
          </a:xfrm>
          <a:prstGeom prst="roundRect">
            <a:avLst>
              <a:gd name="adj" fmla="val 4545"/>
            </a:avLst>
          </a:prstGeom>
          <a:solidFill>
            <a:srgbClr val="111113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1298520" y="2651760"/>
            <a:ext cx="182520" cy="1825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567000" y="3017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15 · ABR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9"/>
          <p:cNvSpPr/>
          <p:nvPr/>
        </p:nvSpPr>
        <p:spPr>
          <a:xfrm>
            <a:off x="567000" y="32918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Detectamos el cuello de botella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67000" y="384048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costo por consulta era insostenible. Regenerar todo no era opción.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2505600" y="2423160"/>
            <a:ext cx="2011320" cy="2148480"/>
          </a:xfrm>
          <a:prstGeom prst="roundRect">
            <a:avLst>
              <a:gd name="adj" fmla="val 4545"/>
            </a:avLst>
          </a:prstGeom>
          <a:solidFill>
            <a:srgbClr val="111113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3420000" y="2651760"/>
            <a:ext cx="182520" cy="1825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2688480" y="3017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16 · ABR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2688480" y="32918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Cambiamos el enfoque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2688480" y="384048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Patches quirúrgicos en vez de regeneración masiva. Más rápido. Sin romper nada.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4626720" y="2423160"/>
            <a:ext cx="2011320" cy="2148480"/>
          </a:xfrm>
          <a:prstGeom prst="roundRect">
            <a:avLst>
              <a:gd name="adj" fmla="val 4545"/>
            </a:avLst>
          </a:prstGeom>
          <a:solidFill>
            <a:srgbClr val="111113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5541120" y="2651760"/>
            <a:ext cx="182520" cy="1825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4809600" y="3017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17 · ABR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4809600" y="32918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El sistema se auto-corrige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4809600" y="384048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Auditoría automática: 44 de 138 entradas flaggeadas sin intervención humana.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6748200" y="2423160"/>
            <a:ext cx="2011320" cy="2148480"/>
          </a:xfrm>
          <a:prstGeom prst="roundRect">
            <a:avLst>
              <a:gd name="adj" fmla="val 4545"/>
            </a:avLst>
          </a:prstGeom>
          <a:solidFill>
            <a:srgbClr val="1A1A1D"/>
          </a:solidFill>
          <a:ln w="1905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7662600" y="2651760"/>
            <a:ext cx="182520" cy="1825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6931080" y="3017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18 · ABR · HOY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6931080" y="32918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v2.4 en producción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6931080" y="3840480"/>
            <a:ext cx="1645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Costo −34% · latencia 0.4s · motor autónomo operativo.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365760" y="45720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No ajustamos parámetros. </a:t>
            </a:r>
            <a:r>
              <a:rPr lang="en-US" sz="13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Construimos un motor que se ajusta solo.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7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8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9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09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REVEAL · EN VIVO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365760" y="6584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// LO QUE SIGUE NO ES UN MOCKUP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365760" y="960120"/>
            <a:ext cx="8412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Y ahora,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365760" y="1828800"/>
            <a:ext cx="8412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la plataforma </a:t>
            </a:r>
            <a:r>
              <a:rPr lang="en-US" sz="44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corriendo.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365760" y="2880360"/>
            <a:ext cx="8412480" cy="360"/>
          </a:xfrm>
          <a:prstGeom prst="line">
            <a:avLst/>
          </a:prstGeom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365760" y="29444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En los próximos minutos van a ver cuatro cosas en pantalla: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7"/>
          <p:cNvSpPr/>
          <p:nvPr/>
        </p:nvSpPr>
        <p:spPr>
          <a:xfrm>
            <a:off x="365760" y="3291840"/>
            <a:ext cx="1999800" cy="1261440"/>
          </a:xfrm>
          <a:prstGeom prst="roundRect">
            <a:avLst>
              <a:gd name="adj" fmla="val 5797"/>
            </a:avLst>
          </a:prstGeom>
          <a:solidFill>
            <a:srgbClr val="111113"/>
          </a:solidFill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365760" y="3291840"/>
            <a:ext cx="45360" cy="126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548640" y="3429000"/>
            <a:ext cx="1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548640" y="3749040"/>
            <a:ext cx="172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EN VIVO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548640" y="4005000"/>
            <a:ext cx="172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Sovereign Feed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548640" y="4316040"/>
            <a:ext cx="172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NEXUS observa, decide y ajusta.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2503080" y="3291840"/>
            <a:ext cx="1999800" cy="1261440"/>
          </a:xfrm>
          <a:prstGeom prst="roundRect">
            <a:avLst>
              <a:gd name="adj" fmla="val 5797"/>
            </a:avLst>
          </a:prstGeom>
          <a:solidFill>
            <a:srgbClr val="111113"/>
          </a:solidFill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2503080" y="3291840"/>
            <a:ext cx="45360" cy="126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2685960" y="3429000"/>
            <a:ext cx="1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F4444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2685960" y="3749040"/>
            <a:ext cx="172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UN CLICK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7"/>
          <p:cNvSpPr/>
          <p:nvPr/>
        </p:nvSpPr>
        <p:spPr>
          <a:xfrm>
            <a:off x="2685960" y="4005000"/>
            <a:ext cx="172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Modo Pánico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8"/>
          <p:cNvSpPr/>
          <p:nvPr/>
        </p:nvSpPr>
        <p:spPr>
          <a:xfrm>
            <a:off x="2685960" y="4316040"/>
            <a:ext cx="172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Entrenamiento bajo presión real.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9"/>
          <p:cNvSpPr/>
          <p:nvPr/>
        </p:nvSpPr>
        <p:spPr>
          <a:xfrm>
            <a:off x="4640760" y="3291840"/>
            <a:ext cx="1999800" cy="1261440"/>
          </a:xfrm>
          <a:prstGeom prst="roundRect">
            <a:avLst>
              <a:gd name="adj" fmla="val 5797"/>
            </a:avLst>
          </a:prstGeom>
          <a:solidFill>
            <a:srgbClr val="111113"/>
          </a:solidFill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0"/>
          <p:cNvSpPr/>
          <p:nvPr/>
        </p:nvSpPr>
        <p:spPr>
          <a:xfrm>
            <a:off x="4640760" y="3291840"/>
            <a:ext cx="45360" cy="126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1"/>
          <p:cNvSpPr/>
          <p:nvPr/>
        </p:nvSpPr>
        <p:spPr>
          <a:xfrm>
            <a:off x="4823640" y="3429000"/>
            <a:ext cx="1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2"/>
          <p:cNvSpPr/>
          <p:nvPr/>
        </p:nvSpPr>
        <p:spPr>
          <a:xfrm>
            <a:off x="4823640" y="3749040"/>
            <a:ext cx="172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5 PASOS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3"/>
          <p:cNvSpPr/>
          <p:nvPr/>
        </p:nvSpPr>
        <p:spPr>
          <a:xfrm>
            <a:off x="4823640" y="4005000"/>
            <a:ext cx="172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Ciclo Adaptativo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4"/>
          <p:cNvSpPr/>
          <p:nvPr/>
        </p:nvSpPr>
        <p:spPr>
          <a:xfrm>
            <a:off x="4823640" y="4316040"/>
            <a:ext cx="172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motor mostrando cómo piensa.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5"/>
          <p:cNvSpPr/>
          <p:nvPr/>
        </p:nvSpPr>
        <p:spPr>
          <a:xfrm>
            <a:off x="6778080" y="3291840"/>
            <a:ext cx="1999800" cy="1261440"/>
          </a:xfrm>
          <a:prstGeom prst="roundRect">
            <a:avLst>
              <a:gd name="adj" fmla="val 5797"/>
            </a:avLst>
          </a:prstGeom>
          <a:solidFill>
            <a:srgbClr val="111113"/>
          </a:solidFill>
          <a:ln w="9525">
            <a:solidFill>
              <a:srgbClr val="2A2A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6"/>
          <p:cNvSpPr/>
          <p:nvPr/>
        </p:nvSpPr>
        <p:spPr>
          <a:xfrm>
            <a:off x="6778080" y="3291840"/>
            <a:ext cx="45360" cy="126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7"/>
          <p:cNvSpPr/>
          <p:nvPr/>
        </p:nvSpPr>
        <p:spPr>
          <a:xfrm>
            <a:off x="6960960" y="3429000"/>
            <a:ext cx="172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8"/>
          <p:cNvSpPr/>
          <p:nvPr/>
        </p:nvSpPr>
        <p:spPr>
          <a:xfrm>
            <a:off x="6960960" y="3749040"/>
            <a:ext cx="172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4 DÍAS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9"/>
          <p:cNvSpPr/>
          <p:nvPr/>
        </p:nvSpPr>
        <p:spPr>
          <a:xfrm>
            <a:off x="6960960" y="4005000"/>
            <a:ext cx="1725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Timeline Sovereign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0"/>
          <p:cNvSpPr/>
          <p:nvPr/>
        </p:nvSpPr>
        <p:spPr>
          <a:xfrm>
            <a:off x="6960960" y="4316040"/>
            <a:ext cx="172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La historia de lo que construimos.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1"/>
          <p:cNvSpPr/>
          <p:nvPr/>
        </p:nvSpPr>
        <p:spPr>
          <a:xfrm>
            <a:off x="365760" y="4645080"/>
            <a:ext cx="543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2"/>
          <p:cNvSpPr/>
          <p:nvPr/>
        </p:nvSpPr>
        <p:spPr>
          <a:xfrm>
            <a:off x="502920" y="4617720"/>
            <a:ext cx="8274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i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Nada de esto está grabado. Es el sistema real, ejecutándose ahora.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3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4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5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10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ESTADO ACTUAL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Dónde estamos hoy.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365760" y="11887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No es una idea. Ya está en producción.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384120" y="1783080"/>
            <a:ext cx="2011320" cy="23770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384120" y="1783080"/>
            <a:ext cx="2011320" cy="5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384120" y="205740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475560" y="3154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Materias cubiertas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475560" y="3566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Contabilidad · Sociales · Administración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2505600" y="1783080"/>
            <a:ext cx="2011320" cy="23770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2505600" y="1783080"/>
            <a:ext cx="2011320" cy="5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2505600" y="205740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A855F7"/>
                </a:solidFill>
                <a:effectLst/>
                <a:uFillTx/>
                <a:latin typeface="Consolas"/>
                <a:ea typeface="Consolas"/>
              </a:rPr>
              <a:t>100+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2597040" y="3154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Conceptos verificados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2597040" y="3566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Con citas al material oficial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>
            <a:off x="4626720" y="1783080"/>
            <a:ext cx="2011320" cy="23770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5"/>
          <p:cNvSpPr/>
          <p:nvPr/>
        </p:nvSpPr>
        <p:spPr>
          <a:xfrm>
            <a:off x="4626720" y="1783080"/>
            <a:ext cx="2011320" cy="5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4626720" y="205740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100%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4718160" y="3154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PWA · offline-ready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4718160" y="3566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Se instala sin tiendas de apps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9"/>
          <p:cNvSpPr/>
          <p:nvPr/>
        </p:nvSpPr>
        <p:spPr>
          <a:xfrm>
            <a:off x="6748200" y="1783080"/>
            <a:ext cx="2011320" cy="237708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6748200" y="1783080"/>
            <a:ext cx="2011320" cy="5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6748200" y="205740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20/4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6839640" y="315468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Demo institucional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6839640" y="35661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Lunes próximo · facultad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4"/>
          <p:cNvSpPr/>
          <p:nvPr/>
        </p:nvSpPr>
        <p:spPr>
          <a:xfrm>
            <a:off x="365760" y="4343400"/>
            <a:ext cx="8412120" cy="41112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365760" y="43434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Meses adelantados </a:t>
            </a: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respecto a cualquier intento similar en la región.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6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11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LO QUE VIENE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La ruta de acá a fin de semestre.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731520" y="2103120"/>
            <a:ext cx="7680960" cy="360"/>
          </a:xfrm>
          <a:prstGeom prst="line">
            <a:avLst/>
          </a:prstGeom>
          <a:ln w="254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4"/>
          <p:cNvSpPr/>
          <p:nvPr/>
        </p:nvSpPr>
        <p:spPr>
          <a:xfrm>
            <a:off x="1645920" y="1965960"/>
            <a:ext cx="273960" cy="273960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505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457200" y="1691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ABRIL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6"/>
          <p:cNvSpPr/>
          <p:nvPr/>
        </p:nvSpPr>
        <p:spPr>
          <a:xfrm>
            <a:off x="457200" y="2423160"/>
            <a:ext cx="2651400" cy="21027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1600200" y="2560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7"/>
          <p:cNvSpPr/>
          <p:nvPr/>
        </p:nvSpPr>
        <p:spPr>
          <a:xfrm>
            <a:off x="457200" y="3017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Validación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685800" y="3429000"/>
            <a:ext cx="2285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Demo institucional 20/4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Audiencia: facultad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Caso Néstor documentado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4434840" y="1965960"/>
            <a:ext cx="273960" cy="27396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0505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3246120" y="1691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A855F7"/>
                </a:solidFill>
                <a:effectLst/>
                <a:uFillTx/>
                <a:latin typeface="Segoe UI"/>
                <a:ea typeface="Segoe UI"/>
              </a:rPr>
              <a:t>MAYO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1"/>
          <p:cNvSpPr/>
          <p:nvPr/>
        </p:nvSpPr>
        <p:spPr>
          <a:xfrm>
            <a:off x="3246120" y="2423160"/>
            <a:ext cx="2651400" cy="21027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1" descr="preencoded.png"/>
          <p:cNvPicPr/>
          <p:nvPr/>
        </p:nvPicPr>
        <p:blipFill>
          <a:blip r:embed="rId2"/>
          <a:stretch/>
        </p:blipFill>
        <p:spPr>
          <a:xfrm>
            <a:off x="4389120" y="2560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12"/>
          <p:cNvSpPr/>
          <p:nvPr/>
        </p:nvSpPr>
        <p:spPr>
          <a:xfrm>
            <a:off x="3246120" y="3017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Escala de contenido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3474720" y="3429000"/>
            <a:ext cx="2285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Nueva interfaz (rebranding)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Ingreso de materias restantes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Apertura a primeros usuarios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7223760" y="1965960"/>
            <a:ext cx="273960" cy="2739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505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6035040" y="1691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59E0B"/>
                </a:solidFill>
                <a:effectLst/>
                <a:uFillTx/>
                <a:latin typeface="Segoe UI"/>
                <a:ea typeface="Segoe UI"/>
              </a:rPr>
              <a:t>JUNIO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6035040" y="2423160"/>
            <a:ext cx="2651400" cy="21027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7178040" y="2560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7"/>
          <p:cNvSpPr/>
          <p:nvPr/>
        </p:nvSpPr>
        <p:spPr>
          <a:xfrm>
            <a:off x="6035040" y="30175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Piloto multi-alumno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6263640" y="3429000"/>
            <a:ext cx="22856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Feedback real a escala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Iteración de UX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OpenSymbol"/>
              <a:buChar char="■"/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Métricas de aprendizaje real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12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EL EQUIPO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Ninguna pieza es reemplazable.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365760" y="11887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Segoe UI"/>
                <a:ea typeface="Segoe UI"/>
              </a:rPr>
              <a:t>Cada uno resuelve un problema que yo solo no puedo.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434520" y="1691640"/>
            <a:ext cx="4023000" cy="14169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434520" y="1691640"/>
            <a:ext cx="72720" cy="1416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708840" y="19202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6"/>
          <p:cNvSpPr/>
          <p:nvPr/>
        </p:nvSpPr>
        <p:spPr>
          <a:xfrm>
            <a:off x="1257480" y="18561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Alejandra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1257480" y="21672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00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INSTITUCIONAL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8"/>
          <p:cNvSpPr/>
          <p:nvPr/>
        </p:nvSpPr>
        <p:spPr>
          <a:xfrm>
            <a:off x="708840" y="24688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Abre las puertas que el producto solo no puede abrir. Sin universidad, no hay validación.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9"/>
          <p:cNvSpPr/>
          <p:nvPr/>
        </p:nvSpPr>
        <p:spPr>
          <a:xfrm>
            <a:off x="4686480" y="1691640"/>
            <a:ext cx="4023000" cy="14169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4686480" y="1691640"/>
            <a:ext cx="72720" cy="1416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1" descr="preencoded.png"/>
          <p:cNvPicPr/>
          <p:nvPr/>
        </p:nvPicPr>
        <p:blipFill>
          <a:blip r:embed="rId2"/>
          <a:stretch/>
        </p:blipFill>
        <p:spPr>
          <a:xfrm>
            <a:off x="4960800" y="19202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11"/>
          <p:cNvSpPr/>
          <p:nvPr/>
        </p:nvSpPr>
        <p:spPr>
          <a:xfrm>
            <a:off x="5509440" y="18561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Lucho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2"/>
          <p:cNvSpPr/>
          <p:nvPr/>
        </p:nvSpPr>
        <p:spPr>
          <a:xfrm>
            <a:off x="5509440" y="21672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00" strike="noStrike">
                <a:solidFill>
                  <a:srgbClr val="A855F7"/>
                </a:solidFill>
                <a:effectLst/>
                <a:uFillTx/>
                <a:latin typeface="Segoe UI"/>
                <a:ea typeface="Segoe UI"/>
              </a:rPr>
              <a:t>DESARROLLO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4960800" y="24688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que aprende a construir con nosotros. Cada línea que sume es una línea que no dependo de tener yo.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4"/>
          <p:cNvSpPr/>
          <p:nvPr/>
        </p:nvSpPr>
        <p:spPr>
          <a:xfrm>
            <a:off x="434520" y="3291840"/>
            <a:ext cx="4023000" cy="14169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5"/>
          <p:cNvSpPr/>
          <p:nvPr/>
        </p:nvSpPr>
        <p:spPr>
          <a:xfrm>
            <a:off x="434520" y="3291840"/>
            <a:ext cx="72720" cy="1416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5" name="Image 2" descr="preencoded.png"/>
          <p:cNvPicPr/>
          <p:nvPr/>
        </p:nvPicPr>
        <p:blipFill>
          <a:blip r:embed="rId3"/>
          <a:stretch/>
        </p:blipFill>
        <p:spPr>
          <a:xfrm>
            <a:off x="708840" y="35204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16"/>
          <p:cNvSpPr/>
          <p:nvPr/>
        </p:nvSpPr>
        <p:spPr>
          <a:xfrm>
            <a:off x="1257480" y="34563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Néstor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1257480" y="3767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00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AUDITOR · USUARIO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8"/>
          <p:cNvSpPr/>
          <p:nvPr/>
        </p:nvSpPr>
        <p:spPr>
          <a:xfrm>
            <a:off x="708840" y="40690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único que nos dice si esto realmente enseña. Sin él, volamos a ciegas.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9"/>
          <p:cNvSpPr/>
          <p:nvPr/>
        </p:nvSpPr>
        <p:spPr>
          <a:xfrm>
            <a:off x="4686480" y="3291840"/>
            <a:ext cx="4023000" cy="141696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0"/>
          <p:cNvSpPr/>
          <p:nvPr/>
        </p:nvSpPr>
        <p:spPr>
          <a:xfrm>
            <a:off x="4686480" y="3291840"/>
            <a:ext cx="72720" cy="1416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Image 3" descr="preencoded.png"/>
          <p:cNvPicPr/>
          <p:nvPr/>
        </p:nvPicPr>
        <p:blipFill>
          <a:blip r:embed="rId4"/>
          <a:stretch/>
        </p:blipFill>
        <p:spPr>
          <a:xfrm>
            <a:off x="4960800" y="35204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21"/>
          <p:cNvSpPr/>
          <p:nvPr/>
        </p:nvSpPr>
        <p:spPr>
          <a:xfrm>
            <a:off x="5509440" y="34563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Vladimir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2"/>
          <p:cNvSpPr/>
          <p:nvPr/>
        </p:nvSpPr>
        <p:spPr>
          <a:xfrm>
            <a:off x="5509440" y="3767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00" strike="noStrike">
                <a:solidFill>
                  <a:srgbClr val="F59E0B"/>
                </a:solidFill>
                <a:effectLst/>
                <a:uFillTx/>
                <a:latin typeface="Segoe UI"/>
                <a:ea typeface="Segoe UI"/>
              </a:rPr>
              <a:t>MARKETING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3"/>
          <p:cNvSpPr/>
          <p:nvPr/>
        </p:nvSpPr>
        <p:spPr>
          <a:xfrm>
            <a:off x="4960800" y="406908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El que traduce lo que hacemos a algo que la gente entienda en 5 segundos.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4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5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6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13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365760" y="274320"/>
            <a:ext cx="164160" cy="164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594360" y="237600"/>
            <a:ext cx="7314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LO QUE PIDO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365760" y="685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Lo que les pido hoy.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365760" y="11887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Sin vueltas.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4"/>
          <p:cNvSpPr/>
          <p:nvPr/>
        </p:nvSpPr>
        <p:spPr>
          <a:xfrm>
            <a:off x="365760" y="1783080"/>
            <a:ext cx="4160160" cy="12798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"/>
          <p:cNvSpPr/>
          <p:nvPr/>
        </p:nvSpPr>
        <p:spPr>
          <a:xfrm>
            <a:off x="548640" y="19202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6"/>
          <p:cNvSpPr/>
          <p:nvPr/>
        </p:nvSpPr>
        <p:spPr>
          <a:xfrm>
            <a:off x="1371600" y="19659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Compromiso antes que sueldo.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7"/>
          <p:cNvSpPr/>
          <p:nvPr/>
        </p:nvSpPr>
        <p:spPr>
          <a:xfrm>
            <a:off x="1371600" y="23317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Esto hoy no paga. En unos meses sí. Si vas a estar, estás ahora — no después cuando es fácil.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8"/>
          <p:cNvSpPr/>
          <p:nvPr/>
        </p:nvSpPr>
        <p:spPr>
          <a:xfrm>
            <a:off x="4617720" y="1783080"/>
            <a:ext cx="4160160" cy="12798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9"/>
          <p:cNvSpPr/>
          <p:nvPr/>
        </p:nvSpPr>
        <p:spPr>
          <a:xfrm>
            <a:off x="4800600" y="19202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0"/>
          <p:cNvSpPr/>
          <p:nvPr/>
        </p:nvSpPr>
        <p:spPr>
          <a:xfrm>
            <a:off x="5623560" y="19659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Confianza en el plan.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1"/>
          <p:cNvSpPr/>
          <p:nvPr/>
        </p:nvSpPr>
        <p:spPr>
          <a:xfrm>
            <a:off x="5623560" y="23317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Vamos meses adelantados a quien intenta esto mismo. Mantener esa ventaja es cuestión de no distraerse.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2"/>
          <p:cNvSpPr/>
          <p:nvPr/>
        </p:nvSpPr>
        <p:spPr>
          <a:xfrm>
            <a:off x="365760" y="3200400"/>
            <a:ext cx="4160160" cy="12798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3"/>
          <p:cNvSpPr/>
          <p:nvPr/>
        </p:nvSpPr>
        <p:spPr>
          <a:xfrm>
            <a:off x="548640" y="33375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4"/>
          <p:cNvSpPr/>
          <p:nvPr/>
        </p:nvSpPr>
        <p:spPr>
          <a:xfrm>
            <a:off x="1371600" y="33832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Aporte desde tu rol.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5"/>
          <p:cNvSpPr/>
          <p:nvPr/>
        </p:nvSpPr>
        <p:spPr>
          <a:xfrm>
            <a:off x="1371600" y="37490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necesito que todos hagan de todo. Necesito que cada uno mueva fuerte la pieza que le toca.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6"/>
          <p:cNvSpPr/>
          <p:nvPr/>
        </p:nvSpPr>
        <p:spPr>
          <a:xfrm>
            <a:off x="4617720" y="3200400"/>
            <a:ext cx="4160160" cy="1279800"/>
          </a:xfrm>
          <a:prstGeom prst="rect">
            <a:avLst/>
          </a:prstGeom>
          <a:solidFill>
            <a:srgbClr val="111113"/>
          </a:solidFill>
          <a:ln w="12700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7"/>
          <p:cNvSpPr/>
          <p:nvPr/>
        </p:nvSpPr>
        <p:spPr>
          <a:xfrm>
            <a:off x="4800600" y="33375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8"/>
          <p:cNvSpPr/>
          <p:nvPr/>
        </p:nvSpPr>
        <p:spPr>
          <a:xfrm>
            <a:off x="5623560" y="33832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Discreción.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9"/>
          <p:cNvSpPr/>
          <p:nvPr/>
        </p:nvSpPr>
        <p:spPr>
          <a:xfrm>
            <a:off x="5623560" y="37490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Cómo resolvemos problemas técnicos se queda adentro. La ventaja se protege.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0"/>
          <p:cNvSpPr/>
          <p:nvPr/>
        </p:nvSpPr>
        <p:spPr>
          <a:xfrm>
            <a:off x="365760" y="4892040"/>
            <a:ext cx="8412480" cy="360"/>
          </a:xfrm>
          <a:prstGeom prst="line">
            <a:avLst/>
          </a:prstGeom>
          <a:ln w="9525">
            <a:solidFill>
              <a:srgbClr val="1F1F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1"/>
          <p:cNvSpPr/>
          <p:nvPr/>
        </p:nvSpPr>
        <p:spPr>
          <a:xfrm>
            <a:off x="365760" y="491940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NEXUS_ · SOVEREIGN_PROTOCOL · 18-04-2026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2"/>
          <p:cNvSpPr/>
          <p:nvPr/>
        </p:nvSpPr>
        <p:spPr>
          <a:xfrm>
            <a:off x="7863840" y="491940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14 / 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8869680" y="0"/>
            <a:ext cx="273960" cy="5143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8759880" y="0"/>
            <a:ext cx="109440" cy="5143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457200" y="731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DE80"/>
                </a:solidFill>
                <a:effectLst/>
                <a:uFillTx/>
                <a:latin typeface="Consolas"/>
                <a:ea typeface="Consolas"/>
              </a:rPr>
              <a:t>LISTOS PARA DESPLIEGUE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457200" y="128016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Aquí se viene </a:t>
            </a:r>
            <a:r>
              <a:rPr lang="en-US" sz="4400" b="1" i="1" u="none" strike="noStrike">
                <a:solidFill>
                  <a:srgbClr val="4ADE80"/>
                </a:solidFill>
                <a:effectLst/>
                <a:uFillTx/>
                <a:latin typeface="Segoe UI"/>
                <a:ea typeface="Segoe UI"/>
              </a:rPr>
              <a:t>a ejecutar.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457200" y="251460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No a perder </a:t>
            </a:r>
            <a:r>
              <a:rPr lang="en-US" sz="380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el tiempo.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457200" y="3886200"/>
            <a:ext cx="1371600" cy="360"/>
          </a:xfrm>
          <a:prstGeom prst="line">
            <a:avLst/>
          </a:prstGeom>
          <a:ln w="254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457200" y="39776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Segoe UI"/>
                <a:ea typeface="Segoe UI"/>
              </a:rPr>
              <a:t>Gracias por estar.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457200" y="4434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Juan Cruz · Founder · 18-04-2026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6126480" y="594360"/>
            <a:ext cx="511560" cy="511560"/>
          </a:xfrm>
          <a:prstGeom prst="roundRect">
            <a:avLst>
              <a:gd name="adj" fmla="val 14286"/>
            </a:avLst>
          </a:prstGeom>
          <a:solidFill>
            <a:srgbClr val="A855F7"/>
          </a:solidFill>
          <a:ln w="12700">
            <a:solidFill>
              <a:srgbClr val="A85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6126480" y="5943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60" b="1" u="none" strike="noStrike">
                <a:solidFill>
                  <a:srgbClr val="F8FAFC"/>
                </a:solidFill>
                <a:effectLst/>
                <a:uFillTx/>
                <a:latin typeface="Consolas"/>
                <a:ea typeface="Consolas"/>
              </a:rPr>
              <a:t>&gt;_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6775560" y="631080"/>
            <a:ext cx="18284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60" b="1" u="none" strike="noStrike">
                <a:solidFill>
                  <a:srgbClr val="F8FAFC"/>
                </a:solidFill>
                <a:effectLst/>
                <a:uFillTx/>
                <a:latin typeface="Segoe UI"/>
                <a:ea typeface="Segoe UI"/>
              </a:rPr>
              <a:t>NEXUS</a:t>
            </a:r>
            <a:endParaRPr lang="en-US" sz="2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8312040" y="945360"/>
            <a:ext cx="160560" cy="50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120" rIns="90000" bIns="6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  <Words>0</Words>
  <Paragraphs>0</Paragraphs>
  <Company>NEXUS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2026-04-18T19:10:43Z</dcterms:created>
  <dc:creator>Juan · NEXUS Portal FCE</dc:creator>
  <dc:description/>
  <dc:language>en-US</dc:language>
  <cp:lastModifiedBy>Juan · NEXUS Portal FCE</cp:lastModifiedBy>
  <dcterms:modified xsi:type="dcterms:W3CDTF">2026-04-18T19:10:43Z</dcterms:modified>
  <cp:revision>1</cp:revision>
  <dc:subject>PptxGenJS Presentation</dc:subject>
  <dc:title>NEXUS — Reunión de equipo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